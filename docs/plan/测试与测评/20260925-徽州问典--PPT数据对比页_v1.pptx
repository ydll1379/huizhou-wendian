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扩库前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来源材料（份）</c:v>
                </c:pt>
                <c:pt idx="1">
                  <c:v>知识分块（个）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184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扩库后</c:v>
                </c:pt>
              </c:strCache>
            </c:strRef>
          </c:tx>
          <c:spPr>
            <a:solidFill>
              <a:srgbClr val="8F1D2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来源材料（份）</c:v>
                </c:pt>
                <c:pt idx="1">
                  <c:v>知识分块（个）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63</c:v>
                </c:pt>
                <c:pt idx="1">
                  <c:v>391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0.0"/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扩库前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Dense 向量</c:v>
                </c:pt>
                <c:pt idx="1">
                  <c:v>BM25 关键词</c:v>
                </c:pt>
                <c:pt idx="2">
                  <c:v>Hybrid 混合</c:v>
                </c:pt>
                <c:pt idx="3">
                  <c:v>Hybrid＋别名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0.075</c:v>
                </c:pt>
                <c:pt idx="2">
                  <c:v>0.1</c:v>
                </c:pt>
                <c:pt idx="3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扩库后</c:v>
                </c:pt>
              </c:strCache>
            </c:strRef>
          </c:tx>
          <c:spPr>
            <a:solidFill>
              <a:srgbClr val="8F1D2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Dense 向量</c:v>
                </c:pt>
                <c:pt idx="1">
                  <c:v>BM25 关键词</c:v>
                </c:pt>
                <c:pt idx="2">
                  <c:v>Hybrid 混合</c:v>
                </c:pt>
                <c:pt idx="3">
                  <c:v>Hybrid＋别名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0.933</c:v>
                </c:pt>
                <c:pt idx="1">
                  <c:v>0.9</c:v>
                </c:pt>
                <c:pt idx="2">
                  <c:v>0.933</c:v>
                </c:pt>
                <c:pt idx="3">
                  <c:v>0.933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扩库前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Dense 向量</c:v>
                </c:pt>
                <c:pt idx="1">
                  <c:v>BM25 关键词</c:v>
                </c:pt>
                <c:pt idx="2">
                  <c:v>Hybrid 混合</c:v>
                </c:pt>
                <c:pt idx="3">
                  <c:v>Hybrid＋别名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0.0882</c:v>
                </c:pt>
                <c:pt idx="1">
                  <c:v>0.0258</c:v>
                </c:pt>
                <c:pt idx="2">
                  <c:v>0.0917</c:v>
                </c:pt>
                <c:pt idx="3">
                  <c:v>0.0917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扩库后</c:v>
                </c:pt>
              </c:strCache>
            </c:strRef>
          </c:tx>
          <c:spPr>
            <a:solidFill>
              <a:srgbClr val="8F1D2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Dense 向量</c:v>
                </c:pt>
                <c:pt idx="1">
                  <c:v>BM25 关键词</c:v>
                </c:pt>
                <c:pt idx="2">
                  <c:v>Hybrid 混合</c:v>
                </c:pt>
                <c:pt idx="3">
                  <c:v>Hybrid＋别名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0.8708</c:v>
                </c:pt>
                <c:pt idx="1">
                  <c:v>0.8163</c:v>
                </c:pt>
                <c:pt idx="2">
                  <c:v>0.8419</c:v>
                </c:pt>
                <c:pt idx="3">
                  <c:v>0.8531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0.000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扩库前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Dense 向量</c:v>
                </c:pt>
                <c:pt idx="1">
                  <c:v>BM25 关键词</c:v>
                </c:pt>
                <c:pt idx="2">
                  <c:v>Hybrid 混合</c:v>
                </c:pt>
                <c:pt idx="3">
                  <c:v>Hybrid＋别名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0.989</c:v>
                </c:pt>
                <c:pt idx="1">
                  <c:v>0.981</c:v>
                </c:pt>
                <c:pt idx="2">
                  <c:v>0.985</c:v>
                </c:pt>
                <c:pt idx="3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扩库后</c:v>
                </c:pt>
              </c:strCache>
            </c:strRef>
          </c:tx>
          <c:spPr>
            <a:solidFill>
              <a:srgbClr val="8F1D2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Dense 向量</c:v>
                </c:pt>
                <c:pt idx="1">
                  <c:v>BM25 关键词</c:v>
                </c:pt>
                <c:pt idx="2">
                  <c:v>Hybrid 混合</c:v>
                </c:pt>
                <c:pt idx="3">
                  <c:v>Hybrid＋别名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0.985</c:v>
                </c:pt>
                <c:pt idx="1">
                  <c:v>0.974</c:v>
                </c:pt>
                <c:pt idx="2">
                  <c:v>0.985</c:v>
                </c:pt>
                <c:pt idx="3">
                  <c:v>0.996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MRR@12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基线：纯向量检索</c:v>
                </c:pt>
                <c:pt idx="1">
                  <c:v>优化：别名＋BM25/向量＋RRF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0.9533</c:v>
                </c:pt>
                <c:pt idx="1">
                  <c:v>0.9667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0.000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域内放行率 %</c:v>
                </c:pt>
              </c:strCache>
            </c:strRef>
          </c:tx>
          <c:spPr>
            <a:ln w="31750">
              <a:solidFill>
                <a:srgbClr val="BFBFBF"/>
              </a:solidFill>
            </a:ln>
          </c:spPr>
          <c:cat>
            <c:strRef>
              <c:f>Sheet1!$A$2:$A$14</c:f>
              <c:strCache>
                <c:ptCount val="13"/>
                <c:pt idx="0">
                  <c:v>0.10</c:v>
                </c:pt>
                <c:pt idx="1">
                  <c:v>0.15</c:v>
                </c:pt>
                <c:pt idx="2">
                  <c:v>0.20</c:v>
                </c:pt>
                <c:pt idx="3">
                  <c:v>0.25</c:v>
                </c:pt>
                <c:pt idx="4">
                  <c:v>0.30</c:v>
                </c:pt>
                <c:pt idx="5">
                  <c:v>0.35</c:v>
                </c:pt>
                <c:pt idx="6">
                  <c:v>0.40</c:v>
                </c:pt>
                <c:pt idx="7">
                  <c:v>0.45</c:v>
                </c:pt>
                <c:pt idx="8">
                  <c:v>0.50</c:v>
                </c:pt>
                <c:pt idx="9">
                  <c:v>0.55</c:v>
                </c:pt>
                <c:pt idx="10">
                  <c:v>0.60</c:v>
                </c:pt>
                <c:pt idx="11">
                  <c:v>0.65</c:v>
                </c:pt>
                <c:pt idx="12">
                  <c:v>0.70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98.94736842105263</c:v>
                </c:pt>
                <c:pt idx="8">
                  <c:v>95.78947368421052</c:v>
                </c:pt>
                <c:pt idx="9">
                  <c:v>91.57894736842105</c:v>
                </c:pt>
                <c:pt idx="10">
                  <c:v>82.10526315789474</c:v>
                </c:pt>
                <c:pt idx="11">
                  <c:v>51.578947368421055</c:v>
                </c:pt>
                <c:pt idx="12">
                  <c:v>26.31578947368421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域外拒答率 %</c:v>
                </c:pt>
              </c:strCache>
            </c:strRef>
          </c:tx>
          <c:spPr>
            <a:ln w="31750">
              <a:solidFill>
                <a:srgbClr val="8F1D2C"/>
              </a:solidFill>
            </a:ln>
          </c:spPr>
          <c:cat>
            <c:strRef>
              <c:f>Sheet1!$A$2:$A$14</c:f>
              <c:strCache>
                <c:ptCount val="13"/>
                <c:pt idx="0">
                  <c:v>0.10</c:v>
                </c:pt>
                <c:pt idx="1">
                  <c:v>0.15</c:v>
                </c:pt>
                <c:pt idx="2">
                  <c:v>0.20</c:v>
                </c:pt>
                <c:pt idx="3">
                  <c:v>0.25</c:v>
                </c:pt>
                <c:pt idx="4">
                  <c:v>0.30</c:v>
                </c:pt>
                <c:pt idx="5">
                  <c:v>0.35</c:v>
                </c:pt>
                <c:pt idx="6">
                  <c:v>0.40</c:v>
                </c:pt>
                <c:pt idx="7">
                  <c:v>0.45</c:v>
                </c:pt>
                <c:pt idx="8">
                  <c:v>0.50</c:v>
                </c:pt>
                <c:pt idx="9">
                  <c:v>0.55</c:v>
                </c:pt>
                <c:pt idx="10">
                  <c:v>0.60</c:v>
                </c:pt>
                <c:pt idx="11">
                  <c:v>0.65</c:v>
                </c:pt>
                <c:pt idx="12">
                  <c:v>0.70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0.8333333333333334</c:v>
                </c:pt>
                <c:pt idx="6">
                  <c:v>8.333333333333332</c:v>
                </c:pt>
                <c:pt idx="7">
                  <c:v>31.666666666666664</c:v>
                </c:pt>
                <c:pt idx="8">
                  <c:v>53.333333333333336</c:v>
                </c:pt>
                <c:pt idx="9">
                  <c:v>65.0</c:v>
                </c:pt>
                <c:pt idx="10">
                  <c:v>80.0</c:v>
                </c:pt>
                <c:pt idx="11">
                  <c:v>86.66666666666667</c:v>
                </c:pt>
                <c:pt idx="12">
                  <c:v>96.66666666666667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 仅阈值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0.45</c:v>
                </c:pt>
                <c:pt idx="1">
                  <c:v>0.50</c:v>
                </c:pt>
                <c:pt idx="2">
                  <c:v>0.55</c:v>
                </c:pt>
                <c:pt idx="3">
                  <c:v>0.60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31.666666666666664</c:v>
                </c:pt>
                <c:pt idx="1">
                  <c:v>53.333333333333336</c:v>
                </c:pt>
                <c:pt idx="2">
                  <c:v>65.0</c:v>
                </c:pt>
                <c:pt idx="3">
                  <c:v>80.0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阈值 + 意图守卫</c:v>
                </c:pt>
              </c:strCache>
            </c:strRef>
          </c:tx>
          <c:spPr>
            <a:solidFill>
              <a:srgbClr val="8F1D2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0.45</c:v>
                </c:pt>
                <c:pt idx="1">
                  <c:v>0.50</c:v>
                </c:pt>
                <c:pt idx="2">
                  <c:v>0.55</c:v>
                </c:pt>
                <c:pt idx="3">
                  <c:v>0.60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63.33333333333333</c:v>
                </c:pt>
                <c:pt idx="1">
                  <c:v>81.66666666666667</c:v>
                </c:pt>
                <c:pt idx="2">
                  <c:v>88.33333333333333</c:v>
                </c:pt>
                <c:pt idx="3">
                  <c:v>95.0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开场：这一页先立规矩——我们所有数字都是自己跑出来的离线检索评测，口径写在计划书附录A，欢迎随时核查。先把“检索指标 ≠ 回答准确率”这句话说出来，后面就不会被追着打。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这页只讲“需求真实”，不讲“我们份额多少”。评委问市场，就回答：创意组阶段不做占有率预测，我们先把县域点位的可用工具做出来。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讲工作量：扩库不是口号，是 8 份材料、3 份扫描件人工转写、207 个新分块。强调“原件留存 + 转写稿”，说明我们对资料质量有交代。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关键话术：这不是“模型变强了”，而是“资料补齐之后，原来根本查不到的问题终于能检索到”。如果评委问“题目是不是你们自己出的”，回答：是，但我们用的是同一批查询做扩库前后对照，扩库前只有 10% 命中，说明这套题对新地区确实“无从查起”。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这页是加分页。主动交代“纯向量反超”，并给出可验证的解释假设 + 下一步实验，比只报有利数据更能建立信任。评委若追问，就说：我们把原因分离列为实验 C，两周内出结果。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评审最爱问“你们的指标是不是都涨了”。这里主动说明有的指标回落了，并给出原因假设与验证计划 —— 这比含糊其辞安全得多。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如果评委说“提升这么小”，直接承认：是的，很小。我们把它写成“有限改善”，同时说明指标饱和的原因，并给出下一步扩样方案。诚实会换来信任分。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这页的目标是“可信”：把已知缺陷主动说出来，并给出修复方案。评委通常不会因为“阈值没校准”扣分，但一定会因为“把未校准的能力说成可靠”扣分。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这页回答“你们接下来干什么”。强调 A+B 只要 2–3 天，能把最弱的“可信度”补上；同时把记录规范说出来，显示团队懂评测流程。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收尾：把“不能说的话”列出来，反而显得团队严谨。最后一句话建议说：我们的结论都带着适用范围，欢迎评委按附录A 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这页主动暴露问题：现行 0.35 阈值对 120 条域外问题只拦住 1 条。先说清问题，再给出下一页的解决方案——评委看到的是“能定位并解决问题”的能力。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这是本轮最硬的技术增量：我们不仅定位了阈值失效，还给出了可复现的两段式门控，在同一批 215 题上把域外拒答率从 53.3%（同域内放行率）提到 81.7%，且域内一道题都没误伤。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这页回答“回答会不会胡说”：22 题全部带引用、编号全部有效，68 条断言在严格评审下全部可溯源。同时主动说明评审模型同族与样本规模，避免把 100% 说成总体幻觉率。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这页主动交代瓶颈：重排在 CPU 上 P50 约 5.3 秒，是端到端体验的主要成本。同时给出量化杠杆——候选减半延迟减半，并且演示时可以切 baseline 模式把检索压到百毫秒级。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这页回答“你们的评测是不是自说自话”：题目换成第三方的 Chinese-SimpleQA（3000 题）和 RGB 中文子集，指标换成 ALCE / RAGChecker 的公开定义。结论有两条：一是 0.50 阈值在第三方通用域外题上拒答 99.4%，说明阈值有信息量、原配置 0.35 过低；二是 RGB 那种“文档看着相关但不含答案”的负例，门控层基本拦不住，靠生成层的“资料不足就说明”兜底到 75%——这是 RGB 论文里所有模型的共同短板，我们如实报告并把它列为下一步（意图分类）的工作。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标准基准这页要讲三层：第一，我们在公开中文检索数据集上拿到了可复现的成绩（全量官方协议 BM25 nDCG@10 0.5557）；第二，同语料对照发现通用语料里纯向量更强、固定权重融合反而拖累——这和领域语料上的结论相反，说明权重应当自适应，这是下一轮最值得做的优化；第三，主动说明稠密侧用的是缩小语料协议（全部正例都在语料里，但干扰项更少），所以绝对值不能和榜单直接比，只用于横向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徽州问典 · 数据验证与优势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2D7DC"/>
                </a:solidFill>
                <a:latin typeface="微软雅黑"/>
                <a:ea typeface="微软雅黑"/>
              </a:rPr>
              <a:t>徽州红色文化智能问答与数字化传承平台 ｜ 校赛答辩数据对比页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全部数据来自《项目计划书v3》附录A 的离线评测记录（2026-09），一手可查。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对外统一口径：本页所有指标衡量的是“检索证据的覆盖与排序”，不是“回答准确率”。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808080"/>
                </a:solidFill>
                <a:latin typeface="微软雅黑"/>
                <a:ea typeface="微软雅黑"/>
              </a:rPr>
              <a:t>页码结构：需求 → 知识库扩充 → 覆盖能力 → 排序能力与边界 → 稳定性 → 拒答与工程 → 下一步验证 → 口径声明。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团队：吴羽彤 单悦冉 李清扬 杨怡然 廉雨诺 ｜ 指导教师：卢志成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一、需求侧：县域红色资源还在持续“被发现”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为什么需要低成本的数字化工具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65176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116 处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安徽第三批不可移动革命文物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508760"/>
            <a:ext cx="265176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89 件（套）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同批可移动革命文物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08760"/>
            <a:ext cx="265176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5800+ 处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六安市烈士纪念设施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508760"/>
            <a:ext cx="265176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100 万+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六安年祭扫瞻仰人次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本轮名录新认定意味着：资源清单还在增长，但“公开、可检索、可引用”的数字资料仍然稀缺。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基层点位财政与人力有限，买不起定制讲解系统，也缺史料整理工具 —— 需求真实存在。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我们的定位：零经费、浏览器直达、资料可溯源的公益原型，优先覆盖县域与乡村点位。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来源：皖西日报／大皖新闻 2026-01-28（安徽省文物局第三批革命文物名录）。外部数据仅用于说明需求侧规模，不用于推算市场占有率。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二、知识库扩充：真实的工作量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55 → 63 份来源材料 ｜ 184 → 391 个知识分块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60350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6002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新增 8 份徽州地区公开来源材料（安庆、蚌埠、滁州、六安）。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3 份扫描 PDF 无可用文本层：以人工 OCR 转写稿入库，原件留存供核对。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网页目录类来源只作条目线索，不作为史实正文引用。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新增 207 个分块，全部带来源元数据。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口径：分块数由建库脚本直接输出；文献份数为“原有 55 份 + 本轮 8 份”的登记结果。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三、覆盖能力跃升：同一批 120 条查询的对照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新增资料专项集 Hit@5（扩库前 vs 扩库后）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69164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扩库前：新增地区问题几乎检索不到（7.5%–10.0%）。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扩库后：4 种方案全部达到 90.0%–93.3%。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含义：县域资料的“有无”是当前最关键变量，而不是模型参数。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口径：Hit@5 指前 5 条检索结果中出现期望证据的查询比例；期望证据由题目预设关键词构造，属代理指标。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四、排序能力与边界：混合检索收益有限，且我们不藏反例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新增资料专项集 MRR@12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6002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别名扩展让 Hybrid 的 MRR@12 从 0.8419 升到 0.8531（+0.0112）。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同一语料上纯向量检索 0.8708 更高 —— 我们如实报告。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推断原因：新语料引入新关键词，BM25 分路召回了关键词重叠但主题不对的旧分块，融合后稀释排序。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下一步用消融实验分离因素（实验 C）。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口径：MRR@12 为前 12 条内首个命中位置倒数的平均值；数值越高表示首个相关证据平均排序越靠前。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五、原有评测集：扩库带来的排序扰动，我们写成结论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原有评测集 Hit@5（267 条查询）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6002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Hit@5 与 MRR@12 小幅回落（Hybrid＋别名：0.9732 → 0.9599）。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四条可能原因：分块粒度变化、索引噪声、未做资料权重、向量空间位移。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结论表述：扩库改善了新增地区覆盖，同时带来排序变化，不概括为“全面提升”。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口径：以上为扩库前后同一批查询的离线对照；窗口为 Top-12，未启用重排器。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六、50 题阶段性实验：只用没饱和的指标说话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MRR@12：0.9533 → 0.9667（+0.0133，约 +1.4%）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417320"/>
          <a:ext cx="58521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23760" y="15087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Hit@5、Hit@10 两组均为 100%，指标饱和，我们不拿它做效果宣传。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可读结论只有 MRR@12：首个期望证据的平均排名略有前移。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幅度有限，不等于“效果显著”，更不代表答案正确率。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下一轮补无答案题、近似混淆题与人工复核样本。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口径：50 题实验（2026-09-12）只覆盖别名扩展、BM25/向量混合与 RRF，未调用重排器。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七、工程链路与合规：每个数字都能追溯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来源可回溯 ｜ 口径可复核 ｜ 缺陷有方案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65176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8 份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本轮新增来源材料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508760"/>
            <a:ext cx="265176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3 份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扫描 PDF 人工 OCR 转写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08760"/>
            <a:ext cx="265176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391 块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带来源元数据的知识分块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508760"/>
            <a:ext cx="265176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0 元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现金经费（全开源栈）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回答附来源编号与资料入口，可回到原文核对；引用用于说明依据，不等同于逐句事实核验。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已知缺陷主动披露：0.35 相似度阈值下 12 条知识库外问题全部未被拦截 —— 拒答阈值未校准。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修复路径：域外问题扩样 + 阈值扫描（0.20–0.60），报告拒答准确率与误拒率（实验 A）。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333333"/>
                </a:solidFill>
                <a:latin typeface="微软雅黑"/>
                <a:ea typeface="微软雅黑"/>
              </a:rPr>
              <a:t>▍ 链路一致性：线上启用 BGE 重排，离线评测未启用，因此评测结论不归因于重排器。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口径：以上均为计划书附录A 记录；图表与表格一一对应，可当场翻页核对。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八、下一步验证路线图：把“接下来会证明什么”讲清楚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优先做能补最短板的两个实验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实验</a:t>
                      </a:r>
                    </a:p>
                  </a:txBody>
                  <a:tcPr marL="54864" marR="54864" marT="27432" marB="27432">
                    <a:solidFill>
                      <a:srgbClr val="8F1D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目的</a:t>
                      </a:r>
                    </a:p>
                  </a:txBody>
                  <a:tcPr marL="54864" marR="54864" marT="27432" marB="27432">
                    <a:solidFill>
                      <a:srgbClr val="8F1D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样本与做法</a:t>
                      </a:r>
                    </a:p>
                  </a:txBody>
                  <a:tcPr marL="54864" marR="54864" marT="27432" marB="27432">
                    <a:solidFill>
                      <a:srgbClr val="8F1D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产出指标</a:t>
                      </a:r>
                    </a:p>
                  </a:txBody>
                  <a:tcPr marL="54864" marR="54864" marT="27432" marB="27432">
                    <a:solidFill>
                      <a:srgbClr val="8F1D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预计工作量</a:t>
                      </a:r>
                    </a:p>
                  </a:txBody>
                  <a:tcPr marL="54864" marR="54864" marT="27432" marB="27432">
                    <a:solidFill>
                      <a:srgbClr val="8F1D2C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 拒答阈值校准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把拒答变成可验证能力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域外 200 条 + 域内 200 条；阈值 0.20–0.60 扫描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拒答准确率、误拒率、最佳阈值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 引用忠实度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证明回答忠于证据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域内 100 条，人工判定每条断言是否被引用支持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忠实度比例、不支持率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1–2 天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 消融实验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解释原有集回落、量化模块贡献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387 条查询 × 别名/BM25/重排/分块/权重开关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各因素 ΔMRR@12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 跨产品对测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回应“和别人比如何”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同库同查询同 Top-K，对比 WeKnora 与通用大模型直答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Hit@5、MRR@12、拒答率、延迟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2–3 天</a:t>
                      </a:r>
                    </a:p>
                  </a:txBody>
                  <a:tcPr marL="54864" marR="54864" marT="27432" marB="27432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4E79"/>
                </a:solidFill>
                <a:latin typeface="微软雅黑"/>
                <a:ea typeface="微软雅黑"/>
              </a:rPr>
              <a:t>记录规范：每次实验同时记录评测集版本、知识库快照、系统版本、实验日期、Top-K、延迟与失败率。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8F1D2C"/>
                </a:solidFill>
                <a:latin typeface="微软雅黑"/>
                <a:ea typeface="微软雅黑"/>
              </a:rPr>
              <a:t>九、口径声明：这些数字不能怎么说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答辩护身符 —— 被追问时直接翻到这页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不说“回答准确率 93.3%” —— 93.3% 是 Hit@5 检索覆盖，不是答案正确率。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不说“效果显著” —— MRR@12 提升 0.0133（约 1.4%），我们主张“有限改善”。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不说“拒答可靠” —— 0.35 阈值未校准，12/12 域外问题未被拦截。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不说“优于其他产品” —— 本轮无可用在线 WeKnora，未做跨产品对测。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不说用户量、市场占有率、营收 —— 校赛阶段为公益原型，尚无真实用户与收入。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  <a:latin typeface="微软雅黑"/>
                <a:ea typeface="微软雅黑"/>
              </a:rPr>
              <a:t>▍ 不把扩库前后的差异说成“算法升级” —— 主因是资料覆盖，排序指标另有小幅波动。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以上为团队统一口径；数据与表格见《项目计划书v3》1.2.5 与附录A。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8F1D2C"/>
                </a:solidFill>
                <a:latin typeface="微软雅黑"/>
                <a:ea typeface="微软雅黑"/>
              </a:rPr>
              <a:t>十、拒答阈值校准：把“未校准”变成一条曲线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域内 95 题（既有评测集） vs 域外 120 题（自建 OOD：生活 30 / 其他地区 30 / 时效 30 / 无关 20 / 混淆 10）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589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64592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现行阈值 0.35：域内放行 100.0%，域外拒答仅 0.8% —— 门控几乎失效。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单靠阈值最优 0.60：域内 82.1% / 域外 80.0%，两边无法同时满足。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时效类提问（几点开门/门票/电话）分数天然偏高：t=0.50 时仅 3.3% 被拦住。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结论：问题不在阈值大小，而在缺少“意图层”判断。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口径：与 pipeline 门控一致，取混合检索融合后第 1 条的 dense_score；域外集为团队自建，结论限定在这 120 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8F1D2C"/>
                </a:solidFill>
                <a:latin typeface="微软雅黑"/>
                <a:ea typeface="微软雅黑"/>
              </a:rPr>
              <a:t>十一、两段式门控：域外拒答 53% → 82%，域内零误伤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第一段：相似度阈值 0.50；第二段：时效/服务意图守卫（命中即拒答并提示资料库不含时效信息）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2179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040880" y="1737360"/>
            <a:ext cx="219456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8F1D2C"/>
                </a:solidFill>
                <a:latin typeface="微软雅黑"/>
                <a:ea typeface="微软雅黑"/>
              </a:rPr>
              <a:t>95.8%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域内放行率（守卫零误伤）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737360"/>
            <a:ext cx="219456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E7A46"/>
                </a:solidFill>
                <a:latin typeface="微软雅黑"/>
                <a:ea typeface="微软雅黑"/>
              </a:rPr>
              <a:t>81.7%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域外拒答率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20040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同一阈值下，域内放行率完全不变，域外拒答率提升 20–28 个百分点。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推荐配置：阈值 0.50 + 守卫词表；守卫词表公开可复现。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剩余漏网 / 混淆类同名提问需要更强的意图分类，已列为下一轮工作。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口径：复用同一批 215 题分数；守卫命中域内题 0 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8F1D2C"/>
                </a:solidFill>
                <a:latin typeface="微软雅黑"/>
                <a:ea typeface="微软雅黑"/>
              </a:rPr>
              <a:t>十二、生成侧：引用与事实忠实度实测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22 道题真实调用完整链路（检索 → 门控 → BGE 重排 → DeepSeek 生成），再逐条评审断言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5176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8F1D2C"/>
                </a:solidFill>
                <a:latin typeface="微软雅黑"/>
                <a:ea typeface="微软雅黑"/>
              </a:rPr>
              <a:t>22/22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回答带引用标注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554480"/>
            <a:ext cx="265176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8F1D2C"/>
                </a:solidFill>
                <a:latin typeface="微软雅黑"/>
                <a:ea typeface="微软雅黑"/>
              </a:rPr>
              <a:t>22/22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引用编号全部有效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265176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E7A46"/>
                </a:solidFill>
                <a:latin typeface="微软雅黑"/>
                <a:ea typeface="微软雅黑"/>
              </a:rPr>
              <a:t>68/68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断言被判为有据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554480"/>
            <a:ext cx="2651760" cy="12801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8F1D2C"/>
                </a:solidFill>
                <a:latin typeface="微软雅黑"/>
                <a:ea typeface="微软雅黑"/>
              </a:rPr>
              <a:t>7.3 s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端到端延迟 P50（含生成）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逐题明细：68 条断言中 支持 68 / 部分 0 / 不支持 0，不支持断言占比 0.0%。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评审方式：把回答拆成事实断言，逐条判断是否被其标注的引用片段支持（严格 JSON 输出，保留理由）。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▍ 诚实说明：评审模型与生成模型同族（deepseek-chat），存在自评偏好；样本 22 题，不等于整体幻觉率。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口径：引用编号有效性为规则判定（编号是否落在资料范围内）；断言支持率为 LLM 判定，原始回答与理由见结果 JSON。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8F1D2C"/>
                </a:solidFill>
                <a:latin typeface="微软雅黑"/>
                <a:ea typeface="微软雅黑"/>
              </a:rPr>
              <a:t>十三、性能真相：检索核心毫秒级，重排是唯一瓶颈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本机 CPU 实测（50 条查询）；向量检索、BM25、融合与重排分阶段计时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6949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56170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54864" marR="54864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P50</a:t>
                      </a:r>
                    </a:p>
                  </a:txBody>
                  <a:tcPr marL="54864" marR="54864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P95</a:t>
                      </a:r>
                    </a:p>
                  </a:txBody>
                  <a:tcPr marL="54864" marR="54864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54864" marR="54864">
                    <a:solidFill>
                      <a:srgbClr val="8F1D2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查询向量化（bge-m3）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96 ms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128 ms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 CPU，无需 GPU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向量检索（391 分块）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0.10 ms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0.19 ms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numpy 余弦，无外部向量库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BM25 打分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1.16 ms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1.84 ms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jieba + rank_bm25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RRF 融合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0.04 ms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0.06 ms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双路融合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BGE 重排（12→5）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5.68 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44.15 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唯一瓶颈：随候选文本量近似线性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重排候选 12→6（优化）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2.88 s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11.71 s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延迟约减半，是演示环境最直接的杠杆</a:t>
                      </a:r>
                    </a:p>
                  </a:txBody>
                  <a:tcPr marL="54864" marR="54864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6459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检索核心（向量化 + 向量 + BM25 + 融合）P50 ≈ 97 ms，完全满足交互式使用。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峰值内存 5211 MB，无需 GPU、无需 Docker、无需外部向量库。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▍ 四条优化路径：候选 12→6 / 演示用 baseline 模式跳过重排 / 更小或量化重排模型 / 异步与常驻预热。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口径：单机 CPU 实测，计时受负载影响；重排模型为 bge-reranker-v2-m3（12 条真实分块，约 4–6.6k 字符）。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十四、第三方基准对齐：外部题目 + 外部指标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Chinese-SimpleQA（3000 题）· RGB negative rejection（AAAI 2024）· ALCE / RAGChecker 指标口径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6675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/>
                <a:gridCol w="1335024"/>
                <a:gridCol w="1335024"/>
                <a:gridCol w="1335024"/>
                <a:gridCol w="1335024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域外集合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题数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现行 0.35 拒答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0.50 拒答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0.50＋守卫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Chinese-SimpleQA（第三方）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41.5%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99.4%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99.4%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自建 OOD（含时效/混淆难负例）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120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0.8%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53.3%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81.7%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063240"/>
            <a:ext cx="205740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8F1D2C"/>
                </a:solidFill>
                <a:latin typeface="微软雅黑"/>
                <a:ea typeface="微软雅黑"/>
              </a:rPr>
              <a:t>75.0%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RGB 负例拒答（端到端，抽样 60）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3063240"/>
            <a:ext cx="205740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E7A46"/>
                </a:solidFill>
                <a:latin typeface="微软雅黑"/>
                <a:ea typeface="微软雅黑"/>
              </a:rPr>
              <a:t>99.1%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ALCE 引用精确率（严格 98.1%）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063240"/>
            <a:ext cx="205740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E7A46"/>
                </a:solidFill>
                <a:latin typeface="微软雅黑"/>
                <a:ea typeface="微软雅黑"/>
              </a:rPr>
              <a:t>99.5%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RAGChecker 断言精确率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50876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▍ 第三方 3000 题上，阈值 0.50 即可拒答 99.4%；但自建难负例只有 53.3% —— “看起来相关但不含答案”才是真难点。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▍ RGB 负例拒答：门控层几乎无效（负例文档与问题同主题，相似度天然高），端到端 75.0% 靠生成层“资料不足即说明”约束兜底。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▍ 引用侧改用公开指标：ALCE 引用精确率、RAGChecker 断言精确率与幻觉率，并给出规则可复现的引用覆盖率 62.1%。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▍ 诚实边界：题目来自第三方，知识库仍是自建；指标定义来自论文，判定器为 DeepSeek（同族自评）；Chinese-SimpleQA 为 CC-BY-NC-SA-4.0，需署名、非商用。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口径：第三方集只证明“通用域外安全性”，徽州红色文化的领域覆盖仍由自建评测集证明；两组数字不混用。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6675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分数分布（gate_score）：第三方 3000 题 中位 0.360 / P90 0.427；域内 95 题 中位 0.656 / P10 0.559 —— 两类分布间隔明显，阈值本身有信息量，问题在 0.35 取得过低。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微软雅黑"/>
                <a:ea typeface="微软雅黑"/>
              </a:rPr>
              <a:t>RGB 门控层（阈值 0.50）：负例拒答 0.0%、正例放行 98.3% —— 说明相似度无法区分“同主题但不含答案”的文档，必须靠生成层约束 + 后续意图分类。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F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8F1D2C"/>
                </a:solidFill>
                <a:latin typeface="微软雅黑"/>
                <a:ea typeface="微软雅黑"/>
              </a:rPr>
              <a:t>十五、标准检索基准：C-MTEB / DuRetrieval 上的实测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公开语料与官方标准答案：100001 篇语料 · 2000 条查询 · 9839 条相关性标注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6675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测量（协议）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nDCG@10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MRR@10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Recall@10</a:t>
                      </a:r>
                    </a:p>
                  </a:txBody>
                  <a:tcPr marL="45720" marR="45720">
                    <a:solidFill>
                      <a:srgbClr val="8F1D2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BM25 —— 全量官方协议</a:t>
                      </a:r>
                    </a:p>
                  </a:txBody>
                  <a:tcPr marL="45720" marR="45720">
                    <a:solidFill>
                      <a:srgbClr val="FD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0.5557</a:t>
                      </a:r>
                    </a:p>
                  </a:txBody>
                  <a:tcPr marL="45720" marR="45720">
                    <a:solidFill>
                      <a:srgbClr val="FD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0.7078</a:t>
                      </a:r>
                    </a:p>
                  </a:txBody>
                  <a:tcPr marL="45720" marR="45720">
                    <a:solidFill>
                      <a:srgbClr val="FD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0.5610</a:t>
                      </a:r>
                    </a:p>
                  </a:txBody>
                  <a:tcPr marL="45720" marR="45720">
                    <a:solidFill>
                      <a:srgbClr val="FDEE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纯向量 bge-m3 —— 缩小语料对照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0.9258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0.9605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0.9241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BM25 —— 缩小语料对照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0.7001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0.8352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0.6871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混合检索（RRF 融合） —— 缩小语料对照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0.8371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0.9185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0.8407</a:t>
                      </a:r>
                    </a:p>
                  </a:txBody>
                  <a:tcPr marL="45720" marR="45720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886200"/>
            <a:ext cx="214884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8F1D2C"/>
                </a:solidFill>
                <a:latin typeface="微软雅黑"/>
                <a:ea typeface="微软雅黑"/>
              </a:rPr>
              <a:t>0.5557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全量官方协议 BM25 nDCG@10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3886200"/>
            <a:ext cx="214884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E7A46"/>
                </a:solidFill>
                <a:latin typeface="微软雅黑"/>
                <a:ea typeface="微软雅黑"/>
              </a:rPr>
              <a:t>0.9258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同语料对照：纯向量最强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86200"/>
            <a:ext cx="214884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8F1D2C"/>
                </a:solidFill>
                <a:latin typeface="微软雅黑"/>
                <a:ea typeface="微软雅黑"/>
              </a:rPr>
              <a:t>-0.0886</a:t>
            </a:r>
          </a:p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固定权重融合反而拖累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0876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▍ 全量官方协议（10 万篇语料、2000 条查询）BM25：nDCG@10 0.5557、MRR@10 0.7078。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▍ 同语料横向对照：纯向量 0.9258 ＞ 混合 0.8371 ＞ BM25 0.7001 —— 通用语料上语义向量更强，项目当前 0.5/0.5 的固定融合权重把较弱的 BM25 抬得过高，反而拖累了纯向量。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▍ 领域语料上结论相反：自有徽州知识库里 hybrid_alias（MRR@12 0.9599）＞ 纯向量（0.9219），因为专名、年份、地名密集，BM25 有价值。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▍ 由此得出最值得做的优化：融合权重按语料/查询自适应，而不是固定常数。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808080"/>
                </a:solidFill>
                <a:latin typeface="微软雅黑"/>
                <a:ea typeface="微软雅黑"/>
              </a:rPr>
              <a:t>口径：稠密侧为缩小语料协议（官方全部正例 + 5208 篇随机干扰项，seed 固定），绝对值高于官方全量协议，仅供系统间横向对照；全量协议本轮只完成 BM25。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</a:rPr>
              <a:t>数据来源：C-MTEB/DuRetrieval（MTEB 中文检索任务，官方语料与 qrels）；向量与重排模型为项目自用的 bge-m3 / bge-reranker-v2-m3。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